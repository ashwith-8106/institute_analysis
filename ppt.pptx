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56" r:id="rId2"/>
    <p:sldId id="257" r:id="rId3"/>
    <p:sldId id="258" r:id="rId4"/>
    <p:sldId id="259" r:id="rId5"/>
    <p:sldId id="260" r:id="rId6"/>
    <p:sldId id="269" r:id="rId7"/>
    <p:sldId id="270" r:id="rId8"/>
    <p:sldId id="263" r:id="rId9"/>
    <p:sldId id="264" r:id="rId10"/>
    <p:sldId id="272" r:id="rId11"/>
    <p:sldId id="271" r:id="rId12"/>
    <p:sldId id="273"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294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733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3137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2679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056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4375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79755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9127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2858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9004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04179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96297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32912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29692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3019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3601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191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2/14/2026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0461016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EB9D-23CE-A60F-E69B-90085D611BBA}"/>
              </a:ext>
            </a:extLst>
          </p:cNvPr>
          <p:cNvSpPr>
            <a:spLocks noGrp="1"/>
          </p:cNvSpPr>
          <p:nvPr>
            <p:ph type="ctrTitle"/>
          </p:nvPr>
        </p:nvSpPr>
        <p:spPr>
          <a:xfrm>
            <a:off x="1751012" y="1238864"/>
            <a:ext cx="9074304" cy="719053"/>
          </a:xfrm>
        </p:spPr>
        <p:txBody>
          <a:bodyPr>
            <a:normAutofit fontScale="90000"/>
          </a:bodyPr>
          <a:lstStyle/>
          <a:p>
            <a:r>
              <a:rPr lang="en-US" dirty="0"/>
              <a:t>Institute analysis Using pandas</a:t>
            </a:r>
            <a:endParaRPr lang="en-IN" dirty="0"/>
          </a:p>
        </p:txBody>
      </p:sp>
      <p:sp>
        <p:nvSpPr>
          <p:cNvPr id="3" name="Subtitle 2">
            <a:extLst>
              <a:ext uri="{FF2B5EF4-FFF2-40B4-BE49-F238E27FC236}">
                <a16:creationId xmlns:a16="http://schemas.microsoft.com/office/drawing/2014/main" id="{E05DE108-DFC2-213C-4C45-DD6CEC41986F}"/>
              </a:ext>
            </a:extLst>
          </p:cNvPr>
          <p:cNvSpPr>
            <a:spLocks noGrp="1"/>
          </p:cNvSpPr>
          <p:nvPr>
            <p:ph type="subTitle" idx="1"/>
          </p:nvPr>
        </p:nvSpPr>
        <p:spPr>
          <a:xfrm>
            <a:off x="766916" y="2802194"/>
            <a:ext cx="9783097" cy="2295833"/>
          </a:xfrm>
        </p:spPr>
        <p:txBody>
          <a:bodyPr>
            <a:noAutofit/>
          </a:bodyPr>
          <a:lstStyle/>
          <a:p>
            <a:r>
              <a:rPr lang="en-US" sz="2400" b="1" dirty="0"/>
              <a:t>Team members:-1)</a:t>
            </a:r>
            <a:r>
              <a:rPr lang="en-US" sz="2400" b="1" dirty="0" err="1"/>
              <a:t>E.Ashwith</a:t>
            </a:r>
            <a:br>
              <a:rPr lang="en-US" sz="2400" b="1" dirty="0"/>
            </a:br>
            <a:r>
              <a:rPr lang="en-US" sz="2400" b="1" dirty="0"/>
              <a:t>                          2)</a:t>
            </a:r>
            <a:r>
              <a:rPr lang="en-US" sz="2400" b="1" dirty="0" err="1"/>
              <a:t>B.sai</a:t>
            </a:r>
            <a:r>
              <a:rPr lang="en-US" sz="2400" b="1" dirty="0"/>
              <a:t> </a:t>
            </a:r>
            <a:r>
              <a:rPr lang="en-US" sz="2400" b="1" dirty="0" err="1"/>
              <a:t>teja</a:t>
            </a:r>
            <a:endParaRPr lang="en-US" sz="2400" b="1" dirty="0"/>
          </a:p>
          <a:p>
            <a:r>
              <a:rPr lang="en-US" sz="2400" b="1" dirty="0"/>
              <a:t>                          3)Anudeep</a:t>
            </a:r>
          </a:p>
          <a:p>
            <a:r>
              <a:rPr lang="en-US" sz="2400" b="1" dirty="0"/>
              <a:t>       guided by:-Devendra </a:t>
            </a:r>
            <a:r>
              <a:rPr lang="en-US" sz="2400" b="1" dirty="0" err="1"/>
              <a:t>kumaran</a:t>
            </a:r>
            <a:r>
              <a:rPr lang="en-US" sz="2400" b="1" dirty="0"/>
              <a:t> (data analysis trainer</a:t>
            </a:r>
            <a:r>
              <a:rPr lang="en-US" sz="2800" dirty="0"/>
              <a:t>)</a:t>
            </a:r>
          </a:p>
        </p:txBody>
      </p:sp>
      <p:sp>
        <p:nvSpPr>
          <p:cNvPr id="4" name="TextBox 3">
            <a:extLst>
              <a:ext uri="{FF2B5EF4-FFF2-40B4-BE49-F238E27FC236}">
                <a16:creationId xmlns:a16="http://schemas.microsoft.com/office/drawing/2014/main" id="{FD9374A0-BED5-D207-A4CF-F34A27306571}"/>
              </a:ext>
            </a:extLst>
          </p:cNvPr>
          <p:cNvSpPr txBox="1"/>
          <p:nvPr/>
        </p:nvSpPr>
        <p:spPr>
          <a:xfrm>
            <a:off x="3146323" y="1957918"/>
            <a:ext cx="6843251" cy="646331"/>
          </a:xfrm>
          <a:prstGeom prst="rect">
            <a:avLst/>
          </a:prstGeom>
          <a:noFill/>
        </p:spPr>
        <p:txBody>
          <a:bodyPr wrap="square" rtlCol="0">
            <a:spAutoFit/>
          </a:bodyPr>
          <a:lstStyle/>
          <a:p>
            <a:r>
              <a:rPr lang="en-US" dirty="0"/>
              <a:t>Comprehensive Data Analytics project examining institute feedback and performance metrics across multiple dimension</a:t>
            </a:r>
            <a:endParaRPr lang="en-IN" dirty="0"/>
          </a:p>
        </p:txBody>
      </p:sp>
    </p:spTree>
    <p:extLst>
      <p:ext uri="{BB962C8B-B14F-4D97-AF65-F5344CB8AC3E}">
        <p14:creationId xmlns:p14="http://schemas.microsoft.com/office/powerpoint/2010/main" val="2665755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A64B70-4D32-1489-7C0F-F4FD618DCF70}"/>
              </a:ext>
            </a:extLst>
          </p:cNvPr>
          <p:cNvSpPr txBox="1"/>
          <p:nvPr/>
        </p:nvSpPr>
        <p:spPr>
          <a:xfrm>
            <a:off x="3792147" y="373626"/>
            <a:ext cx="6254351" cy="707886"/>
          </a:xfrm>
          <a:prstGeom prst="rect">
            <a:avLst/>
          </a:prstGeom>
          <a:noFill/>
        </p:spPr>
        <p:txBody>
          <a:bodyPr wrap="square" rtlCol="0">
            <a:spAutoFit/>
          </a:bodyPr>
          <a:lstStyle/>
          <a:p>
            <a:r>
              <a:rPr lang="en-US" sz="4000" dirty="0"/>
              <a:t>Project Overview</a:t>
            </a:r>
            <a:endParaRPr lang="en-IN" sz="4000" dirty="0"/>
          </a:p>
        </p:txBody>
      </p:sp>
      <p:sp>
        <p:nvSpPr>
          <p:cNvPr id="3" name="TextBox 2">
            <a:extLst>
              <a:ext uri="{FF2B5EF4-FFF2-40B4-BE49-F238E27FC236}">
                <a16:creationId xmlns:a16="http://schemas.microsoft.com/office/drawing/2014/main" id="{1948C48B-BA70-99B8-216F-8BA2E337B04D}"/>
              </a:ext>
            </a:extLst>
          </p:cNvPr>
          <p:cNvSpPr txBox="1"/>
          <p:nvPr/>
        </p:nvSpPr>
        <p:spPr>
          <a:xfrm>
            <a:off x="1347019" y="1415845"/>
            <a:ext cx="9527458" cy="4247317"/>
          </a:xfrm>
          <a:prstGeom prst="rect">
            <a:avLst/>
          </a:prstGeom>
          <a:noFill/>
        </p:spPr>
        <p:txBody>
          <a:bodyPr wrap="square" rtlCol="0">
            <a:spAutoFit/>
          </a:bodyPr>
          <a:lstStyle/>
          <a:p>
            <a:r>
              <a:rPr lang="en-US" sz="2800" dirty="0"/>
              <a:t>•This project focuses on analyzing student data from our institute.</a:t>
            </a:r>
          </a:p>
          <a:p>
            <a:r>
              <a:rPr lang="en-US" sz="2800" dirty="0"/>
              <a:t>• Collected feedback using Google Forms</a:t>
            </a:r>
          </a:p>
          <a:p>
            <a:r>
              <a:rPr lang="en-US" sz="2800" dirty="0"/>
              <a:t>• Total 227 student records analyzed</a:t>
            </a:r>
          </a:p>
          <a:p>
            <a:r>
              <a:rPr lang="en-US" sz="2800" dirty="0"/>
              <a:t>• Used Pandas and Power BI for analysis and visualization</a:t>
            </a:r>
          </a:p>
          <a:p>
            <a:r>
              <a:rPr lang="en-US" sz="2800" dirty="0"/>
              <a:t>• This analysis helps identify strengths and areas that need improvement</a:t>
            </a:r>
          </a:p>
          <a:p>
            <a:r>
              <a:rPr lang="en-US" sz="2800" dirty="0"/>
              <a:t>• The project supports data-driven decision making for the institute</a:t>
            </a:r>
          </a:p>
          <a:p>
            <a:endParaRPr lang="en-US" sz="2800" dirty="0"/>
          </a:p>
          <a:p>
            <a:endParaRPr lang="en-IN" dirty="0"/>
          </a:p>
        </p:txBody>
      </p:sp>
    </p:spTree>
    <p:extLst>
      <p:ext uri="{BB962C8B-B14F-4D97-AF65-F5344CB8AC3E}">
        <p14:creationId xmlns:p14="http://schemas.microsoft.com/office/powerpoint/2010/main" val="316768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F1A7AC-733D-4115-EF93-1B00562A9502}"/>
              </a:ext>
            </a:extLst>
          </p:cNvPr>
          <p:cNvSpPr txBox="1"/>
          <p:nvPr/>
        </p:nvSpPr>
        <p:spPr>
          <a:xfrm>
            <a:off x="2998839" y="393290"/>
            <a:ext cx="6223819" cy="707886"/>
          </a:xfrm>
          <a:prstGeom prst="rect">
            <a:avLst/>
          </a:prstGeom>
          <a:noFill/>
        </p:spPr>
        <p:txBody>
          <a:bodyPr wrap="square" rtlCol="0">
            <a:spAutoFit/>
          </a:bodyPr>
          <a:lstStyle/>
          <a:p>
            <a:r>
              <a:rPr lang="en-IN" sz="4000" dirty="0"/>
              <a:t>Tools and Technologies Used</a:t>
            </a:r>
          </a:p>
        </p:txBody>
      </p:sp>
      <p:sp>
        <p:nvSpPr>
          <p:cNvPr id="3" name="TextBox 2">
            <a:extLst>
              <a:ext uri="{FF2B5EF4-FFF2-40B4-BE49-F238E27FC236}">
                <a16:creationId xmlns:a16="http://schemas.microsoft.com/office/drawing/2014/main" id="{509CE3C2-4590-B67C-F867-3F83264E7D6F}"/>
              </a:ext>
            </a:extLst>
          </p:cNvPr>
          <p:cNvSpPr txBox="1"/>
          <p:nvPr/>
        </p:nvSpPr>
        <p:spPr>
          <a:xfrm>
            <a:off x="1730477" y="1288026"/>
            <a:ext cx="9085007" cy="2246769"/>
          </a:xfrm>
          <a:prstGeom prst="rect">
            <a:avLst/>
          </a:prstGeom>
          <a:noFill/>
        </p:spPr>
        <p:txBody>
          <a:bodyPr wrap="square" rtlCol="0">
            <a:spAutoFit/>
          </a:bodyPr>
          <a:lstStyle/>
          <a:p>
            <a:r>
              <a:rPr lang="en-IN" sz="2800" dirty="0"/>
              <a:t>• Google Forms – Data collection</a:t>
            </a:r>
          </a:p>
          <a:p>
            <a:r>
              <a:rPr lang="en-IN" sz="2800" dirty="0"/>
              <a:t>• Excel – Data storage</a:t>
            </a:r>
          </a:p>
          <a:p>
            <a:r>
              <a:rPr lang="en-IN" sz="2800" dirty="0"/>
              <a:t>• Pandas – Data cleaning and processing</a:t>
            </a:r>
          </a:p>
          <a:p>
            <a:r>
              <a:rPr lang="en-IN" sz="2800" dirty="0"/>
              <a:t>• Power BI – Data visualization</a:t>
            </a:r>
          </a:p>
          <a:p>
            <a:r>
              <a:rPr lang="en-IN" sz="2800" dirty="0"/>
              <a:t>• Google </a:t>
            </a:r>
            <a:r>
              <a:rPr lang="en-IN" sz="2800" dirty="0" err="1"/>
              <a:t>Colab</a:t>
            </a:r>
            <a:r>
              <a:rPr lang="en-IN" sz="2800" dirty="0"/>
              <a:t> – Running Python code</a:t>
            </a:r>
          </a:p>
        </p:txBody>
      </p:sp>
      <p:pic>
        <p:nvPicPr>
          <p:cNvPr id="1026" name="Picture 2" descr="Google Forms Logo Png, Transparent Png ...">
            <a:extLst>
              <a:ext uri="{FF2B5EF4-FFF2-40B4-BE49-F238E27FC236}">
                <a16:creationId xmlns:a16="http://schemas.microsoft.com/office/drawing/2014/main" id="{6E6D3187-E152-4AD5-9494-D1AFC8F80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487" y="4304039"/>
            <a:ext cx="1582993" cy="13598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cel logo symbol Images - Free ...">
            <a:extLst>
              <a:ext uri="{FF2B5EF4-FFF2-40B4-BE49-F238E27FC236}">
                <a16:creationId xmlns:a16="http://schemas.microsoft.com/office/drawing/2014/main" id="{747E1F80-1D4B-04D3-BA4A-A12171C1F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960" y="4245275"/>
            <a:ext cx="2015808" cy="14773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ndas 1.0 Is Here">
            <a:extLst>
              <a:ext uri="{FF2B5EF4-FFF2-40B4-BE49-F238E27FC236}">
                <a16:creationId xmlns:a16="http://schemas.microsoft.com/office/drawing/2014/main" id="{D519A30A-1CB2-DD35-10D2-658C525992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4939" y="4236226"/>
            <a:ext cx="2015809" cy="14954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wer BI Logo, symbol, meaning, history ...">
            <a:extLst>
              <a:ext uri="{FF2B5EF4-FFF2-40B4-BE49-F238E27FC236}">
                <a16:creationId xmlns:a16="http://schemas.microsoft.com/office/drawing/2014/main" id="{9A16FBCA-22B0-86FB-C1F1-8485698D40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56919" y="4245275"/>
            <a:ext cx="2657782" cy="13659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oogle Colab - A Step-by-step Guide ...">
            <a:extLst>
              <a:ext uri="{FF2B5EF4-FFF2-40B4-BE49-F238E27FC236}">
                <a16:creationId xmlns:a16="http://schemas.microsoft.com/office/drawing/2014/main" id="{14E07404-B827-7529-ABB3-23CE2D68FC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3523" y="4152621"/>
            <a:ext cx="2619375" cy="1495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051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968AA-C7C3-4235-A1EF-8486E25CA7FA}"/>
              </a:ext>
            </a:extLst>
          </p:cNvPr>
          <p:cNvSpPr txBox="1"/>
          <p:nvPr/>
        </p:nvSpPr>
        <p:spPr>
          <a:xfrm>
            <a:off x="2585884" y="452284"/>
            <a:ext cx="6243484" cy="707886"/>
          </a:xfrm>
          <a:prstGeom prst="rect">
            <a:avLst/>
          </a:prstGeom>
          <a:noFill/>
        </p:spPr>
        <p:txBody>
          <a:bodyPr wrap="square" rtlCol="0">
            <a:spAutoFit/>
          </a:bodyPr>
          <a:lstStyle/>
          <a:p>
            <a:r>
              <a:rPr lang="en-IN" sz="4000" dirty="0"/>
              <a:t>Data Collection</a:t>
            </a:r>
          </a:p>
        </p:txBody>
      </p:sp>
      <p:sp>
        <p:nvSpPr>
          <p:cNvPr id="3" name="TextBox 2">
            <a:extLst>
              <a:ext uri="{FF2B5EF4-FFF2-40B4-BE49-F238E27FC236}">
                <a16:creationId xmlns:a16="http://schemas.microsoft.com/office/drawing/2014/main" id="{4D9D94F7-E64F-1978-DD8C-6A823A21249A}"/>
              </a:ext>
            </a:extLst>
          </p:cNvPr>
          <p:cNvSpPr txBox="1"/>
          <p:nvPr/>
        </p:nvSpPr>
        <p:spPr>
          <a:xfrm>
            <a:off x="1101213" y="1543665"/>
            <a:ext cx="9055510" cy="2523768"/>
          </a:xfrm>
          <a:prstGeom prst="rect">
            <a:avLst/>
          </a:prstGeom>
          <a:noFill/>
        </p:spPr>
        <p:txBody>
          <a:bodyPr wrap="square" rtlCol="0">
            <a:spAutoFit/>
          </a:bodyPr>
          <a:lstStyle/>
          <a:p>
            <a:r>
              <a:rPr lang="en-US" sz="2800" dirty="0"/>
              <a:t>• Created Google Form and shared with students</a:t>
            </a:r>
          </a:p>
          <a:p>
            <a:r>
              <a:rPr lang="en-US" sz="2800" dirty="0"/>
              <a:t>• Collected feedback on courses, trainers, fees, placements</a:t>
            </a:r>
          </a:p>
          <a:p>
            <a:r>
              <a:rPr lang="en-US" sz="2800" dirty="0"/>
              <a:t>• Data automatically stored in Excel</a:t>
            </a:r>
          </a:p>
          <a:p>
            <a:r>
              <a:rPr lang="en-US" sz="2800" dirty="0"/>
              <a:t>• The dataset contains both categorical and numerical data</a:t>
            </a:r>
          </a:p>
          <a:p>
            <a:r>
              <a:rPr lang="en-US" sz="2800" dirty="0"/>
              <a:t>• Used this data for further analysis</a:t>
            </a:r>
          </a:p>
          <a:p>
            <a:endParaRPr lang="en-IN" dirty="0"/>
          </a:p>
        </p:txBody>
      </p:sp>
    </p:spTree>
    <p:extLst>
      <p:ext uri="{BB962C8B-B14F-4D97-AF65-F5344CB8AC3E}">
        <p14:creationId xmlns:p14="http://schemas.microsoft.com/office/powerpoint/2010/main" val="237649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AF56F0-D36A-E43D-19A0-B63853134860}"/>
              </a:ext>
            </a:extLst>
          </p:cNvPr>
          <p:cNvSpPr txBox="1"/>
          <p:nvPr/>
        </p:nvSpPr>
        <p:spPr>
          <a:xfrm>
            <a:off x="2713703" y="403123"/>
            <a:ext cx="4866968" cy="707886"/>
          </a:xfrm>
          <a:prstGeom prst="rect">
            <a:avLst/>
          </a:prstGeom>
          <a:noFill/>
        </p:spPr>
        <p:txBody>
          <a:bodyPr wrap="square" rtlCol="0">
            <a:spAutoFit/>
          </a:bodyPr>
          <a:lstStyle/>
          <a:p>
            <a:r>
              <a:rPr lang="en-US" sz="4000" dirty="0"/>
              <a:t>Data cleaning</a:t>
            </a:r>
            <a:endParaRPr lang="en-IN" sz="4000" dirty="0"/>
          </a:p>
        </p:txBody>
      </p:sp>
      <p:sp>
        <p:nvSpPr>
          <p:cNvPr id="5" name="TextBox 4">
            <a:extLst>
              <a:ext uri="{FF2B5EF4-FFF2-40B4-BE49-F238E27FC236}">
                <a16:creationId xmlns:a16="http://schemas.microsoft.com/office/drawing/2014/main" id="{DDEA5A7A-5BEA-0D12-F024-6CE486DE03E0}"/>
              </a:ext>
            </a:extLst>
          </p:cNvPr>
          <p:cNvSpPr txBox="1"/>
          <p:nvPr/>
        </p:nvSpPr>
        <p:spPr>
          <a:xfrm>
            <a:off x="690328" y="905232"/>
            <a:ext cx="9586451" cy="2954655"/>
          </a:xfrm>
          <a:prstGeom prst="rect">
            <a:avLst/>
          </a:prstGeom>
          <a:noFill/>
        </p:spPr>
        <p:txBody>
          <a:bodyPr wrap="square" rtlCol="0">
            <a:spAutoFit/>
          </a:bodyPr>
          <a:lstStyle/>
          <a:p>
            <a:r>
              <a:rPr lang="en-US" sz="2800" dirty="0"/>
              <a:t>• Cleaned the dataset using Pandas library</a:t>
            </a:r>
          </a:p>
          <a:p>
            <a:r>
              <a:rPr lang="en-US" sz="2800" dirty="0"/>
              <a:t>• Converted course names to lowercase for consistency</a:t>
            </a:r>
          </a:p>
          <a:p>
            <a:r>
              <a:rPr lang="en-US" sz="2800" dirty="0"/>
              <a:t>Fixed spelling differences in course names</a:t>
            </a:r>
          </a:p>
          <a:p>
            <a:r>
              <a:rPr lang="en-US" sz="2800" dirty="0"/>
              <a:t>• Handled missing values using mode (most frequent value)</a:t>
            </a:r>
          </a:p>
          <a:p>
            <a:r>
              <a:rPr lang="en-US" sz="2800" dirty="0"/>
              <a:t>• Removed incorrect and duplicate data</a:t>
            </a:r>
          </a:p>
          <a:p>
            <a:r>
              <a:rPr lang="en-US" sz="2800" dirty="0"/>
              <a:t>Ensured all columns have proper data types</a:t>
            </a:r>
          </a:p>
          <a:p>
            <a:endParaRPr lang="en-IN" dirty="0"/>
          </a:p>
        </p:txBody>
      </p:sp>
      <p:pic>
        <p:nvPicPr>
          <p:cNvPr id="7" name="Picture 6">
            <a:extLst>
              <a:ext uri="{FF2B5EF4-FFF2-40B4-BE49-F238E27FC236}">
                <a16:creationId xmlns:a16="http://schemas.microsoft.com/office/drawing/2014/main" id="{84051D8F-4371-E36A-2256-EE5C8E3BAF84}"/>
              </a:ext>
            </a:extLst>
          </p:cNvPr>
          <p:cNvPicPr>
            <a:picLocks noChangeAspect="1"/>
          </p:cNvPicPr>
          <p:nvPr/>
        </p:nvPicPr>
        <p:blipFill>
          <a:blip r:embed="rId2"/>
          <a:stretch>
            <a:fillRect/>
          </a:stretch>
        </p:blipFill>
        <p:spPr>
          <a:xfrm>
            <a:off x="0" y="3612494"/>
            <a:ext cx="12192000" cy="3245506"/>
          </a:xfrm>
          <a:prstGeom prst="rect">
            <a:avLst/>
          </a:prstGeom>
        </p:spPr>
      </p:pic>
    </p:spTree>
    <p:extLst>
      <p:ext uri="{BB962C8B-B14F-4D97-AF65-F5344CB8AC3E}">
        <p14:creationId xmlns:p14="http://schemas.microsoft.com/office/powerpoint/2010/main" val="101966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E14A1EE-614A-CA8D-73D5-B0231F7149B1}"/>
              </a:ext>
            </a:extLst>
          </p:cNvPr>
          <p:cNvPicPr>
            <a:picLocks noChangeAspect="1"/>
          </p:cNvPicPr>
          <p:nvPr/>
        </p:nvPicPr>
        <p:blipFill>
          <a:blip r:embed="rId2"/>
          <a:stretch>
            <a:fillRect/>
          </a:stretch>
        </p:blipFill>
        <p:spPr>
          <a:xfrm>
            <a:off x="0" y="0"/>
            <a:ext cx="12192000" cy="6931742"/>
          </a:xfrm>
          <a:prstGeom prst="rect">
            <a:avLst/>
          </a:prstGeom>
        </p:spPr>
      </p:pic>
    </p:spTree>
    <p:extLst>
      <p:ext uri="{BB962C8B-B14F-4D97-AF65-F5344CB8AC3E}">
        <p14:creationId xmlns:p14="http://schemas.microsoft.com/office/powerpoint/2010/main" val="1672666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E6F207-2C38-BA0B-CC07-31C6E9014B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39765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9BFED2-1EF4-687F-EB93-82E36BAC1DDF}"/>
              </a:ext>
            </a:extLst>
          </p:cNvPr>
          <p:cNvSpPr txBox="1"/>
          <p:nvPr/>
        </p:nvSpPr>
        <p:spPr>
          <a:xfrm>
            <a:off x="3363667" y="0"/>
            <a:ext cx="4286864" cy="707886"/>
          </a:xfrm>
          <a:prstGeom prst="rect">
            <a:avLst/>
          </a:prstGeom>
          <a:noFill/>
        </p:spPr>
        <p:txBody>
          <a:bodyPr wrap="square" rtlCol="0">
            <a:spAutoFit/>
          </a:bodyPr>
          <a:lstStyle/>
          <a:p>
            <a:r>
              <a:rPr lang="en-IN" sz="4000" dirty="0"/>
              <a:t>Statistical Analysis</a:t>
            </a:r>
          </a:p>
        </p:txBody>
      </p:sp>
      <p:sp>
        <p:nvSpPr>
          <p:cNvPr id="3" name="TextBox 2">
            <a:extLst>
              <a:ext uri="{FF2B5EF4-FFF2-40B4-BE49-F238E27FC236}">
                <a16:creationId xmlns:a16="http://schemas.microsoft.com/office/drawing/2014/main" id="{AA8DD0CA-2261-A450-26EC-F2B30CE9688F}"/>
              </a:ext>
            </a:extLst>
          </p:cNvPr>
          <p:cNvSpPr txBox="1"/>
          <p:nvPr/>
        </p:nvSpPr>
        <p:spPr>
          <a:xfrm>
            <a:off x="417095" y="1120841"/>
            <a:ext cx="11774905" cy="5262979"/>
          </a:xfrm>
          <a:prstGeom prst="rect">
            <a:avLst/>
          </a:prstGeom>
          <a:noFill/>
        </p:spPr>
        <p:txBody>
          <a:bodyPr wrap="square" rtlCol="0">
            <a:spAutoFit/>
          </a:bodyPr>
          <a:lstStyle/>
          <a:p>
            <a:r>
              <a:rPr lang="en-US" sz="2800" dirty="0"/>
              <a:t>• Trainer satisfaction average is </a:t>
            </a:r>
            <a:r>
              <a:rPr lang="en-US" sz="2800" b="1" dirty="0"/>
              <a:t>4.39</a:t>
            </a:r>
            <a:r>
              <a:rPr lang="en-US" sz="2800" dirty="0"/>
              <a:t>, which is the highest among all metrics</a:t>
            </a:r>
          </a:p>
          <a:p>
            <a:r>
              <a:rPr lang="en-US" sz="2800" dirty="0"/>
              <a:t>• Fee structure satisfaction average is </a:t>
            </a:r>
            <a:r>
              <a:rPr lang="en-US" sz="2800" b="1" dirty="0"/>
              <a:t>4.07</a:t>
            </a:r>
            <a:r>
              <a:rPr lang="en-US" sz="2800" dirty="0"/>
              <a:t>, showing students are satisfied with fees</a:t>
            </a:r>
          </a:p>
          <a:p>
            <a:r>
              <a:rPr lang="en-US" sz="2800" dirty="0"/>
              <a:t>• Placement confidence average is </a:t>
            </a:r>
            <a:r>
              <a:rPr lang="en-US" sz="2800" b="1" dirty="0"/>
              <a:t>3.65</a:t>
            </a:r>
            <a:r>
              <a:rPr lang="en-US" sz="2800" dirty="0"/>
              <a:t>, which indicates placement support needs improvement</a:t>
            </a:r>
          </a:p>
          <a:p>
            <a:r>
              <a:rPr lang="en-US" sz="2800" dirty="0"/>
              <a:t>• Most students enrolled in </a:t>
            </a:r>
            <a:r>
              <a:rPr lang="en-US" sz="2800" b="1" dirty="0"/>
              <a:t>Python Full Stack course (83 students)</a:t>
            </a:r>
            <a:endParaRPr lang="en-US" sz="2800" dirty="0"/>
          </a:p>
          <a:p>
            <a:r>
              <a:rPr lang="en-US" sz="2800" dirty="0"/>
              <a:t>• Majority of students joined through </a:t>
            </a:r>
            <a:r>
              <a:rPr lang="en-US" sz="2800" b="1" dirty="0"/>
              <a:t>college placements (117 students)</a:t>
            </a:r>
            <a:r>
              <a:rPr lang="en-US" sz="2800" dirty="0"/>
              <a:t> and </a:t>
            </a:r>
            <a:r>
              <a:rPr lang="en-US" sz="2800" b="1" dirty="0"/>
              <a:t>friend referrals (76 students)</a:t>
            </a:r>
            <a:endParaRPr lang="en-US" sz="2800" dirty="0"/>
          </a:p>
          <a:p>
            <a:r>
              <a:rPr lang="en-US" sz="2800" dirty="0"/>
              <a:t>• Most students prefer course duration of </a:t>
            </a:r>
            <a:r>
              <a:rPr lang="en-US" sz="2800" b="1" dirty="0"/>
              <a:t>3 to 6 months</a:t>
            </a:r>
            <a:endParaRPr lang="en-US" sz="2800" dirty="0"/>
          </a:p>
          <a:p>
            <a:r>
              <a:rPr lang="en-US" sz="2800" dirty="0"/>
              <a:t>• Majority of students belong to </a:t>
            </a:r>
            <a:r>
              <a:rPr lang="en-US" sz="2800" b="1" dirty="0"/>
              <a:t>BTECH and CSE background</a:t>
            </a:r>
            <a:endParaRPr lang="en-US" sz="2800" dirty="0"/>
          </a:p>
          <a:p>
            <a:r>
              <a:rPr lang="en-US" sz="2800" dirty="0"/>
              <a:t>• Most students are part of the </a:t>
            </a:r>
            <a:r>
              <a:rPr lang="en-US" sz="2800" b="1" dirty="0"/>
              <a:t>incubation program</a:t>
            </a:r>
            <a:endParaRPr lang="en-US" sz="2800" dirty="0"/>
          </a:p>
          <a:p>
            <a:r>
              <a:rPr lang="en-US" sz="2800" dirty="0"/>
              <a:t>• Trainer quality is the main reason students refer the institute</a:t>
            </a:r>
          </a:p>
        </p:txBody>
      </p:sp>
    </p:spTree>
    <p:extLst>
      <p:ext uri="{BB962C8B-B14F-4D97-AF65-F5344CB8AC3E}">
        <p14:creationId xmlns:p14="http://schemas.microsoft.com/office/powerpoint/2010/main" val="3702538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0AD8E4-A76C-60E8-A4D9-646CDECA4345}"/>
              </a:ext>
            </a:extLst>
          </p:cNvPr>
          <p:cNvSpPr txBox="1"/>
          <p:nvPr/>
        </p:nvSpPr>
        <p:spPr>
          <a:xfrm>
            <a:off x="3144253" y="128855"/>
            <a:ext cx="5101389" cy="769441"/>
          </a:xfrm>
          <a:prstGeom prst="rect">
            <a:avLst/>
          </a:prstGeom>
          <a:noFill/>
        </p:spPr>
        <p:txBody>
          <a:bodyPr wrap="square" rtlCol="0">
            <a:spAutoFit/>
          </a:bodyPr>
          <a:lstStyle/>
          <a:p>
            <a:r>
              <a:rPr lang="en-IN" sz="4400" dirty="0"/>
              <a:t>Power BI Dashboard</a:t>
            </a:r>
          </a:p>
        </p:txBody>
      </p:sp>
      <p:sp>
        <p:nvSpPr>
          <p:cNvPr id="3" name="TextBox 2">
            <a:extLst>
              <a:ext uri="{FF2B5EF4-FFF2-40B4-BE49-F238E27FC236}">
                <a16:creationId xmlns:a16="http://schemas.microsoft.com/office/drawing/2014/main" id="{93364694-1B4C-90A3-B3F7-07B3BF607291}"/>
              </a:ext>
            </a:extLst>
          </p:cNvPr>
          <p:cNvSpPr txBox="1"/>
          <p:nvPr/>
        </p:nvSpPr>
        <p:spPr>
          <a:xfrm>
            <a:off x="778042" y="1017379"/>
            <a:ext cx="10635916" cy="5539978"/>
          </a:xfrm>
          <a:prstGeom prst="rect">
            <a:avLst/>
          </a:prstGeom>
          <a:noFill/>
        </p:spPr>
        <p:txBody>
          <a:bodyPr wrap="square" rtlCol="0">
            <a:spAutoFit/>
          </a:bodyPr>
          <a:lstStyle/>
          <a:p>
            <a:r>
              <a:rPr lang="en-US" sz="2800" dirty="0"/>
              <a:t>• Imported cleaned data into Power BI for visualization</a:t>
            </a:r>
          </a:p>
          <a:p>
            <a:r>
              <a:rPr lang="en-US" sz="2800" dirty="0"/>
              <a:t>• Created interactive dashboard to analyze student data</a:t>
            </a:r>
          </a:p>
          <a:p>
            <a:r>
              <a:rPr lang="en-US" sz="2800" dirty="0"/>
              <a:t>• Used bar charts to show course enrollment and student count</a:t>
            </a:r>
          </a:p>
          <a:p>
            <a:r>
              <a:rPr lang="en-US" sz="2800" dirty="0"/>
              <a:t>• Used pie charts to show fee distribution and student categories</a:t>
            </a:r>
          </a:p>
          <a:p>
            <a:r>
              <a:rPr lang="en-US" sz="2800" dirty="0"/>
              <a:t>• Used KPI cards to display average satisfaction levels and placement confidence</a:t>
            </a:r>
          </a:p>
          <a:p>
            <a:r>
              <a:rPr lang="en-US" sz="2800" dirty="0"/>
              <a:t>• Used slicers to filter data based on course and fee structure</a:t>
            </a:r>
          </a:p>
          <a:p>
            <a:r>
              <a:rPr lang="en-US" sz="2800" dirty="0"/>
              <a:t>• Slicer helps users view specific data based on selection</a:t>
            </a:r>
          </a:p>
          <a:p>
            <a:r>
              <a:rPr lang="en-US" sz="2800" dirty="0"/>
              <a:t>• Dashboard makes data easy to understand through visual representation</a:t>
            </a:r>
          </a:p>
          <a:p>
            <a:r>
              <a:rPr lang="en-US" sz="2800" dirty="0"/>
              <a:t>• Helps identify trends, patterns, and key insights</a:t>
            </a:r>
          </a:p>
          <a:p>
            <a:r>
              <a:rPr lang="en-US" sz="2800" dirty="0"/>
              <a:t>• Supports better decision making for institute improvement</a:t>
            </a:r>
          </a:p>
          <a:p>
            <a:endParaRPr lang="en-IN" dirty="0"/>
          </a:p>
        </p:txBody>
      </p:sp>
    </p:spTree>
    <p:extLst>
      <p:ext uri="{BB962C8B-B14F-4D97-AF65-F5344CB8AC3E}">
        <p14:creationId xmlns:p14="http://schemas.microsoft.com/office/powerpoint/2010/main" val="166237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76D3BB-6AC3-2E28-B967-0B7175689CC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4240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B59CF1-16D5-93C2-A6CF-A010C5DC06B7}"/>
              </a:ext>
            </a:extLst>
          </p:cNvPr>
          <p:cNvPicPr>
            <a:picLocks noChangeAspect="1"/>
          </p:cNvPicPr>
          <p:nvPr/>
        </p:nvPicPr>
        <p:blipFill>
          <a:blip r:embed="rId2"/>
          <a:stretch>
            <a:fillRect/>
          </a:stretch>
        </p:blipFill>
        <p:spPr>
          <a:xfrm>
            <a:off x="88490" y="51681"/>
            <a:ext cx="12024852" cy="6693247"/>
          </a:xfrm>
          <a:prstGeom prst="rect">
            <a:avLst/>
          </a:prstGeom>
        </p:spPr>
      </p:pic>
    </p:spTree>
    <p:extLst>
      <p:ext uri="{BB962C8B-B14F-4D97-AF65-F5344CB8AC3E}">
        <p14:creationId xmlns:p14="http://schemas.microsoft.com/office/powerpoint/2010/main" val="253730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DE3C21-6F6F-31F3-6CB8-57265A3EAC2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56961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350658-8B47-62B1-25B5-1446ADA0E0D2}"/>
              </a:ext>
            </a:extLst>
          </p:cNvPr>
          <p:cNvSpPr txBox="1"/>
          <p:nvPr/>
        </p:nvSpPr>
        <p:spPr>
          <a:xfrm>
            <a:off x="4146626" y="373626"/>
            <a:ext cx="3342967" cy="769441"/>
          </a:xfrm>
          <a:prstGeom prst="rect">
            <a:avLst/>
          </a:prstGeom>
          <a:noFill/>
        </p:spPr>
        <p:txBody>
          <a:bodyPr wrap="square" rtlCol="0">
            <a:spAutoFit/>
          </a:bodyPr>
          <a:lstStyle/>
          <a:p>
            <a:r>
              <a:rPr lang="en-IN" sz="4400" dirty="0"/>
              <a:t>Key Insights</a:t>
            </a:r>
          </a:p>
        </p:txBody>
      </p:sp>
      <p:sp>
        <p:nvSpPr>
          <p:cNvPr id="5" name="TextBox 4">
            <a:extLst>
              <a:ext uri="{FF2B5EF4-FFF2-40B4-BE49-F238E27FC236}">
                <a16:creationId xmlns:a16="http://schemas.microsoft.com/office/drawing/2014/main" id="{1EA2265D-C2B5-1B41-3EF0-2FE4F011195D}"/>
              </a:ext>
            </a:extLst>
          </p:cNvPr>
          <p:cNvSpPr txBox="1"/>
          <p:nvPr/>
        </p:nvSpPr>
        <p:spPr>
          <a:xfrm>
            <a:off x="1489587" y="2074606"/>
            <a:ext cx="9212826" cy="2246769"/>
          </a:xfrm>
          <a:prstGeom prst="rect">
            <a:avLst/>
          </a:prstGeom>
          <a:noFill/>
        </p:spPr>
        <p:txBody>
          <a:bodyPr wrap="square" rtlCol="0">
            <a:spAutoFit/>
          </a:bodyPr>
          <a:lstStyle/>
          <a:p>
            <a:r>
              <a:rPr lang="en-US" sz="2800" dirty="0"/>
              <a:t>• Trainer quality is the biggest strength of the institute</a:t>
            </a:r>
            <a:br>
              <a:rPr lang="en-US" sz="2800" dirty="0"/>
            </a:br>
            <a:r>
              <a:rPr lang="en-US" sz="2800" dirty="0"/>
              <a:t>• Python Full Stack is the most popular course</a:t>
            </a:r>
            <a:br>
              <a:rPr lang="en-US" sz="2800" dirty="0"/>
            </a:br>
            <a:r>
              <a:rPr lang="en-US" sz="2800" dirty="0"/>
              <a:t>• College placements and referrals drive most enrollments</a:t>
            </a:r>
            <a:br>
              <a:rPr lang="en-US" sz="2800" dirty="0"/>
            </a:br>
            <a:r>
              <a:rPr lang="en-US" sz="2800" dirty="0"/>
              <a:t>• Fee satisfaction is good</a:t>
            </a:r>
            <a:br>
              <a:rPr lang="en-US" sz="2800" dirty="0"/>
            </a:br>
            <a:r>
              <a:rPr lang="en-US" sz="2800" dirty="0"/>
              <a:t>• Placement confidence needs improvement</a:t>
            </a:r>
            <a:endParaRPr lang="en-IN" dirty="0"/>
          </a:p>
        </p:txBody>
      </p:sp>
    </p:spTree>
    <p:extLst>
      <p:ext uri="{BB962C8B-B14F-4D97-AF65-F5344CB8AC3E}">
        <p14:creationId xmlns:p14="http://schemas.microsoft.com/office/powerpoint/2010/main" val="332792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99D1B3-754A-3D14-89B6-5DDE8F2FB3C8}"/>
              </a:ext>
            </a:extLst>
          </p:cNvPr>
          <p:cNvSpPr txBox="1"/>
          <p:nvPr/>
        </p:nvSpPr>
        <p:spPr>
          <a:xfrm>
            <a:off x="3721509" y="267618"/>
            <a:ext cx="6770028" cy="769441"/>
          </a:xfrm>
          <a:prstGeom prst="rect">
            <a:avLst/>
          </a:prstGeom>
          <a:noFill/>
        </p:spPr>
        <p:txBody>
          <a:bodyPr wrap="square" rtlCol="0">
            <a:spAutoFit/>
          </a:bodyPr>
          <a:lstStyle/>
          <a:p>
            <a:r>
              <a:rPr lang="en-IN" sz="4400" dirty="0"/>
              <a:t>Improvements Needed</a:t>
            </a:r>
          </a:p>
        </p:txBody>
      </p:sp>
      <p:sp>
        <p:nvSpPr>
          <p:cNvPr id="3" name="TextBox 2">
            <a:extLst>
              <a:ext uri="{FF2B5EF4-FFF2-40B4-BE49-F238E27FC236}">
                <a16:creationId xmlns:a16="http://schemas.microsoft.com/office/drawing/2014/main" id="{361ECE86-189B-F23F-8E20-ABAAF7E619FA}"/>
              </a:ext>
            </a:extLst>
          </p:cNvPr>
          <p:cNvSpPr txBox="1"/>
          <p:nvPr/>
        </p:nvSpPr>
        <p:spPr>
          <a:xfrm>
            <a:off x="1759974" y="1465006"/>
            <a:ext cx="9325121" cy="4678204"/>
          </a:xfrm>
          <a:prstGeom prst="rect">
            <a:avLst/>
          </a:prstGeom>
          <a:noFill/>
        </p:spPr>
        <p:txBody>
          <a:bodyPr wrap="square" rtlCol="0">
            <a:spAutoFit/>
          </a:bodyPr>
          <a:lstStyle/>
          <a:p>
            <a:r>
              <a:rPr lang="en-US" sz="2800" dirty="0"/>
              <a:t>• Improve placement support and provide more job opportunities</a:t>
            </a:r>
          </a:p>
          <a:p>
            <a:r>
              <a:rPr lang="en-US" sz="2800" dirty="0"/>
              <a:t>• Conduct placement preparation sessions like mock interviews and resume building</a:t>
            </a:r>
          </a:p>
          <a:p>
            <a:r>
              <a:rPr lang="en-US" sz="2800" dirty="0"/>
              <a:t>• Increase social media marketing to reach more students</a:t>
            </a:r>
          </a:p>
          <a:p>
            <a:r>
              <a:rPr lang="en-US" sz="2800" dirty="0"/>
              <a:t>• Provide more practical training and real-time project experience</a:t>
            </a:r>
          </a:p>
          <a:p>
            <a:r>
              <a:rPr lang="en-US" sz="2800" dirty="0"/>
              <a:t>• Improve class timing and maintain proper schedule</a:t>
            </a:r>
          </a:p>
          <a:p>
            <a:r>
              <a:rPr lang="en-US" sz="2800" dirty="0"/>
              <a:t>• Complete courses within the expected duration</a:t>
            </a:r>
          </a:p>
          <a:p>
            <a:r>
              <a:rPr lang="en-US" sz="2800" dirty="0"/>
              <a:t>• Provide more interactive and hands-on learning sessions</a:t>
            </a:r>
          </a:p>
          <a:p>
            <a:endParaRPr lang="en-IN" dirty="0"/>
          </a:p>
        </p:txBody>
      </p:sp>
    </p:spTree>
    <p:extLst>
      <p:ext uri="{BB962C8B-B14F-4D97-AF65-F5344CB8AC3E}">
        <p14:creationId xmlns:p14="http://schemas.microsoft.com/office/powerpoint/2010/main" val="2803558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C5CD4D-CE9D-5366-35E0-B9D2857E3852}"/>
              </a:ext>
            </a:extLst>
          </p:cNvPr>
          <p:cNvSpPr txBox="1"/>
          <p:nvPr/>
        </p:nvSpPr>
        <p:spPr>
          <a:xfrm>
            <a:off x="3795252" y="501445"/>
            <a:ext cx="3323303" cy="707886"/>
          </a:xfrm>
          <a:prstGeom prst="rect">
            <a:avLst/>
          </a:prstGeom>
          <a:noFill/>
        </p:spPr>
        <p:txBody>
          <a:bodyPr wrap="square" rtlCol="0">
            <a:spAutoFit/>
          </a:bodyPr>
          <a:lstStyle/>
          <a:p>
            <a:r>
              <a:rPr lang="en-US" sz="4000" dirty="0"/>
              <a:t>conclusion</a:t>
            </a:r>
            <a:endParaRPr lang="en-IN" sz="4000" dirty="0"/>
          </a:p>
        </p:txBody>
      </p:sp>
      <p:sp>
        <p:nvSpPr>
          <p:cNvPr id="3" name="TextBox 2">
            <a:extLst>
              <a:ext uri="{FF2B5EF4-FFF2-40B4-BE49-F238E27FC236}">
                <a16:creationId xmlns:a16="http://schemas.microsoft.com/office/drawing/2014/main" id="{2598F285-BCDE-2A67-F33E-6513BF6D0672}"/>
              </a:ext>
            </a:extLst>
          </p:cNvPr>
          <p:cNvSpPr txBox="1"/>
          <p:nvPr/>
        </p:nvSpPr>
        <p:spPr>
          <a:xfrm>
            <a:off x="589935" y="1445342"/>
            <a:ext cx="10373033" cy="4678204"/>
          </a:xfrm>
          <a:prstGeom prst="rect">
            <a:avLst/>
          </a:prstGeom>
          <a:noFill/>
        </p:spPr>
        <p:txBody>
          <a:bodyPr wrap="square" rtlCol="0">
            <a:spAutoFit/>
          </a:bodyPr>
          <a:lstStyle/>
          <a:p>
            <a:r>
              <a:rPr lang="en-US" sz="2800" dirty="0"/>
              <a:t>From our analysis, we found that trainer quality is the biggest strength of the institute, and most students are satisfied with trainers. Python Full Stack is the most popular course among students.</a:t>
            </a:r>
          </a:p>
          <a:p>
            <a:endParaRPr lang="en-US" sz="2800" dirty="0"/>
          </a:p>
          <a:p>
            <a:r>
              <a:rPr lang="en-US" sz="2800" dirty="0"/>
              <a:t>However, placement confidence is slightly lower, so the institute can improve placement support.</a:t>
            </a:r>
          </a:p>
          <a:p>
            <a:endParaRPr lang="en-US" sz="2800" dirty="0"/>
          </a:p>
          <a:p>
            <a:r>
              <a:rPr lang="en-US" sz="2800" dirty="0"/>
              <a:t>Overall, this project helps the institute understand student feedback and make better decisions to improve student satisfaction and institute performance.</a:t>
            </a:r>
          </a:p>
          <a:p>
            <a:endParaRPr lang="en-IN" dirty="0"/>
          </a:p>
        </p:txBody>
      </p:sp>
    </p:spTree>
    <p:extLst>
      <p:ext uri="{BB962C8B-B14F-4D97-AF65-F5344CB8AC3E}">
        <p14:creationId xmlns:p14="http://schemas.microsoft.com/office/powerpoint/2010/main" val="3213726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B134DA-D932-9589-69DA-AA80B713D56F}"/>
              </a:ext>
            </a:extLst>
          </p:cNvPr>
          <p:cNvSpPr txBox="1"/>
          <p:nvPr/>
        </p:nvSpPr>
        <p:spPr>
          <a:xfrm>
            <a:off x="2969342" y="1356852"/>
            <a:ext cx="6518787" cy="1200329"/>
          </a:xfrm>
          <a:prstGeom prst="rect">
            <a:avLst/>
          </a:prstGeom>
          <a:noFill/>
        </p:spPr>
        <p:txBody>
          <a:bodyPr wrap="square" rtlCol="0">
            <a:spAutoFit/>
          </a:bodyPr>
          <a:lstStyle/>
          <a:p>
            <a:r>
              <a:rPr lang="en-US" sz="7200" dirty="0"/>
              <a:t>THANKYOU</a:t>
            </a:r>
            <a:endParaRPr lang="en-IN" sz="7200" dirty="0"/>
          </a:p>
        </p:txBody>
      </p:sp>
    </p:spTree>
    <p:extLst>
      <p:ext uri="{BB962C8B-B14F-4D97-AF65-F5344CB8AC3E}">
        <p14:creationId xmlns:p14="http://schemas.microsoft.com/office/powerpoint/2010/main" val="156559974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TM04033925[[fn=Droplet]]</Template>
  <TotalTime>131</TotalTime>
  <Words>632</Words>
  <Application>Microsoft Office PowerPoint</Application>
  <PresentationFormat>Widescreen</PresentationFormat>
  <Paragraphs>69</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Tw Cen MT</vt:lpstr>
      <vt:lpstr>Droplet</vt:lpstr>
      <vt:lpstr>Institute analysis Using pandas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saiteja Battula</dc:creator>
  <cp:lastModifiedBy>saiteja Battula</cp:lastModifiedBy>
  <cp:revision>4</cp:revision>
  <dcterms:created xsi:type="dcterms:W3CDTF">2026-02-13T16:13:49Z</dcterms:created>
  <dcterms:modified xsi:type="dcterms:W3CDTF">2026-02-14T03:12:25Z</dcterms:modified>
</cp:coreProperties>
</file>